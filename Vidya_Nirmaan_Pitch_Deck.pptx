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D47A1"/>
                </a:solidFill>
                <a:latin typeface="Calibri"/>
              </a:defRPr>
            </a:pPr>
            <a:r>
              <a:t>Vidya Nirmaan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565C0"/>
                </a:solidFill>
                <a:latin typeface="Calibri"/>
              </a:defRPr>
            </a:pPr>
            <a:r>
              <a:t>AI-Powered School Infrastructure Planning &amp;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606040"/>
            <a:ext cx="3657600" cy="45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7C00"/>
                </a:solidFill>
                <a:latin typeface="Calibri"/>
              </a:defRPr>
            </a:pPr>
            <a:r>
              <a:t>IndiaAI Innovation Challenge — Problem Statement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57575"/>
                </a:solidFill>
                <a:latin typeface="Calibri"/>
              </a:defRPr>
            </a:pPr>
            <a:r>
              <a:t>Department of School Education, Andhra Pradesh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931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5C0"/>
                </a:solidFill>
                <a:latin typeface="Calibri"/>
              </a:defRPr>
            </a:pPr>
            <a:r>
              <a:t>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Schools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931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5C0"/>
                </a:solidFill>
                <a:latin typeface="Calibri"/>
              </a:defRPr>
            </a:pPr>
            <a:r>
              <a:t>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Districts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931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5C0"/>
                </a:solidFill>
                <a:latin typeface="Calibri"/>
              </a:defRPr>
            </a:pPr>
            <a:r>
              <a:t>707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Mandals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931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5C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AI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931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65C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4434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User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120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March 2026  |  Flutter + Supabase + FastAPI  |  Offline-First Mobile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Koreidea Innovations  |  Vidya Nirmaan  |  IndiaAI Innovation Challenge  | 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  <a:latin typeface="Calibri"/>
              </a:defRPr>
            </a:pPr>
            <a:r>
              <a:t>Reimagining School Infrastructure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65C0"/>
                </a:solidFill>
                <a:latin typeface="Calibri"/>
              </a:defRPr>
            </a:pPr>
            <a:r>
              <a:t>Andhra Pradesh manages 45,000+ government schools with manual, paper-based infrastructure planning. No automated fraud detection, no objective prioritization, no future-readiness.</a:t>
            </a:r>
          </a:p>
        </p:txBody>
      </p:sp>
      <p:pic>
        <p:nvPicPr>
          <p:cNvPr id="5" name="Picture 4" descr="problem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105156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Koreidea Innovations  |  Vidya Nirmaan  |  IndiaAI Innovation Challenge  |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  <a:latin typeface="Calibri"/>
              </a:defRPr>
            </a:pPr>
            <a:r>
              <a:t>Vidya Nirmaan — End-to-End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65C0"/>
                </a:solidFill>
                <a:latin typeface="Calibri"/>
              </a:defRPr>
            </a:pPr>
            <a:r>
              <a:t>A mobile-first application that digitizes the entire infrastructure lifecycle: demand → validation → assessment → approval, powered by 3 AI/ML models.</a:t>
            </a:r>
          </a:p>
        </p:txBody>
      </p:sp>
      <p:pic>
        <p:nvPicPr>
          <p:cNvPr id="5" name="Picture 4" descr="solu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09728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Koreidea Innovations  |  Vidya Nirmaan  |  IndiaAI Innovation Challenge  | 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  <a:latin typeface="Calibri"/>
              </a:defRPr>
            </a:pPr>
            <a:r>
              <a:t>3-Stage Demand Approval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65C0"/>
                </a:solidFill>
                <a:latin typeface="Calibri"/>
              </a:defRPr>
            </a:pPr>
            <a:r>
              <a:t>Every infrastructure demand passes through AI validation, field verification, and officer approval. A hard gate ensures no demand is approved without ground-truth inspection.</a:t>
            </a:r>
          </a:p>
        </p:txBody>
      </p:sp>
      <p:pic>
        <p:nvPicPr>
          <p:cNvPr id="5" name="Picture 4" descr="pipelin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1097280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47A1"/>
                </a:solidFill>
                <a:latin typeface="Calibri"/>
              </a:defRPr>
            </a:pPr>
            <a:r>
              <a:t>AI-First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Calibri"/>
              </a:defRPr>
            </a:pPr>
            <a:r>
              <a:t>7 automated rules +</a:t>
            </a:r>
            <a:br/>
            <a:r>
              <a:t>Isolation Forest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47A1"/>
                </a:solidFill>
                <a:latin typeface="Calibri"/>
              </a:defRPr>
            </a:pPr>
            <a:r>
              <a:t>Ground-Truth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5440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Calibri"/>
              </a:defRPr>
            </a:pPr>
            <a:r>
              <a:t>50+ inspection fields</a:t>
            </a:r>
            <a:br/>
            <a:r>
              <a:t>with GPS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47A1"/>
                </a:solidFill>
                <a:latin typeface="Calibri"/>
              </a:defRPr>
            </a:pPr>
            <a:r>
              <a:t>Officer Oversight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440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Calibri"/>
              </a:defRPr>
            </a:pPr>
            <a:r>
              <a:t>Manual approve/flag/reject</a:t>
            </a:r>
            <a:br/>
            <a:r>
              <a:t>with justification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5166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47A1"/>
                </a:solidFill>
                <a:latin typeface="Calibri"/>
              </a:defRPr>
            </a:pPr>
            <a:r>
              <a:t>Full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5440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Calibri"/>
              </a:defRPr>
            </a:pPr>
            <a:r>
              <a:t>Every stage timestamped</a:t>
            </a:r>
            <a:br/>
            <a:r>
              <a:t>and tracked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Koreidea Innovations  |  Vidya Nirmaan  |  IndiaAI Innovation Challenge  |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AI / ML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  <a:latin typeface="Calibri"/>
              </a:defRPr>
            </a:pPr>
            <a:r>
              <a:t>Three AI Models Working in Concert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65C0"/>
                </a:solidFill>
                <a:latin typeface="Calibri"/>
              </a:defRPr>
            </a:pPr>
            <a:r>
              <a:t>Client-side + backend ML: priority scoring for objective allocation, Isolation Forest for fraud detection, dual-model forecasting for future planning.</a:t>
            </a:r>
          </a:p>
        </p:txBody>
      </p:sp>
      <p:pic>
        <p:nvPicPr>
          <p:cNvPr id="5" name="Picture 4" descr="ai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097280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Koreidea Innovations  |  Vidya Nirmaan  |  IndiaAI Innovation Challenge  |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  <a:latin typeface="Calibri"/>
              </a:defRPr>
            </a:pPr>
            <a:r>
              <a:t>Modern, Scalable Architecture</a:t>
            </a:r>
          </a:p>
        </p:txBody>
      </p:sp>
      <p:pic>
        <p:nvPicPr>
          <p:cNvPr id="4" name="Picture 3" descr="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754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47A1"/>
                </a:solidFill>
                <a:latin typeface="Calibri"/>
              </a:defRPr>
            </a:pPr>
            <a:r>
              <a:t>Cross-Platform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Calibri"/>
              </a:defRPr>
            </a:pPr>
            <a:r>
              <a:t>Single codebase for</a:t>
            </a:r>
            <a:br/>
            <a:r>
              <a:t>iOS +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57575"/>
                </a:solidFill>
                <a:latin typeface="Calibri"/>
              </a:defRPr>
            </a:pPr>
            <a:r>
              <a:t>Flutter + Dart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4754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47A1"/>
                </a:solidFill>
                <a:latin typeface="Calibri"/>
              </a:defRPr>
            </a:pPr>
            <a:r>
              <a:t>Real-Time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Calibri"/>
              </a:defRPr>
            </a:pPr>
            <a:r>
              <a:t>Supabase PostgreSQL</a:t>
            </a:r>
            <a:br/>
            <a:r>
              <a:t>with Row Level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57575"/>
                </a:solidFill>
                <a:latin typeface="Calibri"/>
              </a:defRPr>
            </a:pPr>
            <a:r>
              <a:t>Supabase + RLS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754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47A1"/>
                </a:solidFill>
                <a:latin typeface="Calibri"/>
              </a:defRPr>
            </a:pPr>
            <a:r>
              <a:t>ML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Calibri"/>
              </a:defRPr>
            </a:pPr>
            <a:r>
              <a:t>scikit-learn models on</a:t>
            </a:r>
            <a:br/>
            <a:r>
              <a:t>Railway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57575"/>
                </a:solidFill>
                <a:latin typeface="Calibri"/>
              </a:defRPr>
            </a:pPr>
            <a:r>
              <a:t>FastAPI +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4754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47A1"/>
                </a:solidFill>
                <a:latin typeface="Calibri"/>
              </a:defRPr>
            </a:pPr>
            <a:r>
              <a:t>Offline-First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12121"/>
                </a:solidFill>
                <a:latin typeface="Calibri"/>
              </a:defRPr>
            </a:pPr>
            <a:r>
              <a:t>Hive local storage</a:t>
            </a:r>
            <a:br/>
            <a:r>
              <a:t>with auto-sync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57575"/>
                </a:solidFill>
                <a:latin typeface="Calibri"/>
              </a:defRPr>
            </a:pPr>
            <a:r>
              <a:t>Hive + Queue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Koreidea Innovations  |  Vidya Nirmaan  |  IndiaAI Innovation Challenge  | 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  <a:latin typeface="Calibri"/>
              </a:defRPr>
            </a:pPr>
            <a:r>
              <a:t>Platform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565C0"/>
                </a:solidFill>
                <a:latin typeface="Calibri"/>
              </a:defRPr>
            </a:pPr>
            <a:r>
              <a:t>319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Schools in</a:t>
            </a:r>
            <a:br/>
            <a:r>
              <a:t>Pilot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565C0"/>
                </a:solidFill>
                <a:latin typeface="Calibri"/>
              </a:defRPr>
            </a:pPr>
            <a:r>
              <a:t>4,638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Enrolment Records</a:t>
            </a:r>
            <a:br/>
            <a:r>
              <a:t>Analyzed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565C0"/>
                </a:solidFill>
                <a:latin typeface="Calibri"/>
              </a:defRPr>
            </a:pPr>
            <a:r>
              <a:t>799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Demand Plans</a:t>
            </a:r>
            <a:br/>
            <a:r>
              <a:t>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565C0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Inspection</a:t>
            </a:r>
            <a:br/>
            <a:r>
              <a:t>Data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7C0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Validation Rules</a:t>
            </a:r>
            <a:br/>
            <a:r>
              <a:t>+ Isolation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08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7C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AI/ML Models</a:t>
            </a:r>
            <a:br/>
            <a:r>
              <a:t>Deployed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7C0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User Roles with</a:t>
            </a:r>
            <a:br/>
            <a:r>
              <a:t>RBAC Enforcement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108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7C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Languages</a:t>
            </a:r>
            <a:br/>
            <a:r>
              <a:t>EN + Telugu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897B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Offline Capable</a:t>
            </a:r>
            <a:br/>
            <a:r>
              <a:t>Full Functionality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754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897B"/>
                </a:solidFill>
                <a:latin typeface="Calibri"/>
              </a:defRPr>
            </a:pPr>
            <a:r>
              <a:t>&lt; 2s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AI Validation</a:t>
            </a:r>
            <a:br/>
            <a:r>
              <a:t>Response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54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897B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Manual Steps in</a:t>
            </a:r>
            <a:br/>
            <a:r>
              <a:t>Fraud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7548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0897B"/>
                </a:solidFill>
                <a:latin typeface="Calibri"/>
              </a:defRPr>
            </a:pPr>
            <a:r>
              <a:t>45,000+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57575"/>
                </a:solidFill>
                <a:latin typeface="Calibri"/>
              </a:defRPr>
            </a:pPr>
            <a:r>
              <a:t>Schools</a:t>
            </a:r>
            <a:br/>
            <a:r>
              <a:t>Scalability Target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Koreidea Innovations  |  Vidya Nirmaan  |  IndiaAI Innovation Challenge  |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IMPACT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  <a:latin typeface="Calibri"/>
              </a:defRPr>
            </a:pPr>
            <a:r>
              <a:t>Transforming Infrastructure Planning</a:t>
            </a:r>
          </a:p>
        </p:txBody>
      </p:sp>
      <p:pic>
        <p:nvPicPr>
          <p:cNvPr id="4" name="Picture 3" descr="impac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47A1"/>
                </a:solidFill>
                <a:latin typeface="Calibri"/>
              </a:defRPr>
            </a:pPr>
            <a:r>
              <a:t>Reduced Processing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Calibri"/>
              </a:defRPr>
            </a:pPr>
            <a:r>
              <a:t>From weeks to seconds</a:t>
            </a:r>
            <a:br/>
            <a:r>
              <a:t>with AI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47A1"/>
                </a:solidFill>
                <a:latin typeface="Calibri"/>
              </a:defRPr>
            </a:pPr>
            <a:r>
              <a:t>Automated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5760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Calibri"/>
              </a:defRPr>
            </a:pPr>
            <a:r>
              <a:t>Isolation Forest catches</a:t>
            </a:r>
            <a:br/>
            <a:r>
              <a:t>anomalies humans miss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47A1"/>
                </a:solidFill>
                <a:latin typeface="Calibri"/>
              </a:defRPr>
            </a:pPr>
            <a:r>
              <a:t>Objective Prioritization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760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Calibri"/>
              </a:defRPr>
            </a:pPr>
            <a:r>
              <a:t>4-factor scoring replaces</a:t>
            </a:r>
            <a:br/>
            <a:r>
              <a:t>subjective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5486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47A1"/>
                </a:solidFill>
                <a:latin typeface="Calibri"/>
              </a:defRPr>
            </a:pPr>
            <a:r>
              <a:t>Proactive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5760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Calibri"/>
              </a:defRPr>
            </a:pPr>
            <a:r>
              <a:t>3-year forecasts enable</a:t>
            </a:r>
            <a:br/>
            <a:r>
              <a:t>proactive investment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Koreidea Innovations  |  Vidya Nirmaan  |  IndiaAI Innovation Challenge  |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  <a:latin typeface="Calibri"/>
              </a:defRPr>
            </a:pPr>
            <a:r>
              <a:t>Ethical, Transparent, Accountable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3268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Principle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Implementation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Transparency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All AI decisions show detailed rule-by-rule breakdown with scores. Officers see exactly why a demand was approved, flagged, or rejected.</a:t>
                      </a:r>
                    </a:p>
                  </a:txBody>
                  <a:tcPr anchor="ctr"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Human Oversight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3-stage pipeline ensures human officers make final decisions. AI assists but never auto-approves without assessment + officer review.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Fairness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Objective 4-factor scoring algorithm treats all schools equally. No geographic or administrative bias in prioritization.</a:t>
                      </a:r>
                    </a:p>
                  </a:txBody>
                  <a:tcPr anchor="ctr"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Privacy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 personal student data collected. Only aggregate enrolment counts. Supabase Row Level Security enforces data access boundaries.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Accountability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Full audit trail: every validation, assessment, and officer decision is timestamped with the officer name and justification notes.</a:t>
                      </a:r>
                    </a:p>
                  </a:txBody>
                  <a:tcPr anchor="ctr"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Inclusivity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CWSN (Children With Special Needs) weighted at 20% in priority scoring. Bilingual interface (English + Telugu) for accessibility.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Offline Equity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Full offline-first design ensures rural schools with poor connectivity are not disadvantaged. Auto-sync when connected.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Koreidea Innovations  |  Vidya Nirmaan  |  IndiaAI Innovation Challenge  |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DATA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  <a:latin typeface="Calibri"/>
              </a:defRPr>
            </a:pPr>
            <a:r>
              <a:t>Secure, Compliant, Role-Scoped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79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7498079"/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00897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Data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Government Official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UDISE+ school database, Samagra Shiksha norms, AP Dept. of Education records</a:t>
                      </a:r>
                    </a:p>
                  </a:txBody>
                  <a:tcPr anchor="ctr"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5-Role RBAC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State Official sees all; District Officer sees district; Block Officer/Inspector sees mandal; HM sees own school only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Database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Row Level 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Supabase PostgreSQL RLS policies enforce data isolation per user role at the database level</a:t>
                      </a:r>
                    </a:p>
                  </a:txBody>
                  <a:tcPr anchor="ctr"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Encryption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In-Transit + At-Rest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HTTPS for all API calls. Supabase provides AES-256 encryption at rest. JWT auth tokens for sessions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Data Minimization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Aggregate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No personal student data (names, IDs). Only aggregate enrolment counts (boys, girls, total per grade)</a:t>
                      </a:r>
                    </a:p>
                  </a:txBody>
                  <a:tcPr anchor="ctr"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Offline Security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Local-Only Cache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Hive cache stored on device only. No cross-device data sharing. Cache cleared on logout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Audit Logging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Full Traceability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Every validation, assessment, and officer decision recorded with timestamp, officer name, and justification</a:t>
                      </a:r>
                    </a:p>
                  </a:txBody>
                  <a:tcPr anchor="ctr"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Consent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Govt Authorization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 usage authorized under IndiaAI Innovation Challenge. No third-party data sharing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Koreidea Innovations  |  Vidya Nirmaan  |  IndiaAI Innovation Challenge  |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7C00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47A1"/>
                </a:solidFill>
                <a:latin typeface="Calibri"/>
              </a:defRPr>
            </a:pPr>
            <a:r>
              <a:t>Built by Engineers Who Ship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64008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Focus Area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Expertise</a:t>
                      </a:r>
                    </a:p>
                  </a:txBody>
                  <a:tcPr anchor="ctr">
                    <a:solidFill>
                      <a:srgbClr val="0D47A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CEO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Product Vision &amp;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End-to-end product development, Mech Engg background, AI/ML, Mobile &amp; Cloud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COO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Operations &amp; Strategy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Business operations, government project coordination, strategic planning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Lead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Full-Stack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Full-stack engineering, 5+ years experience, frontend &amp; backend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565C0"/>
                          </a:solidFill>
                          <a:latin typeface="Calibri"/>
                        </a:defRPr>
                      </a:pPr>
                      <a:r>
                        <a:t>Product Dev Engineer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Product Development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Product development engineering, prototyping, testing &amp; deployment pipelines</a:t>
                      </a: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57575"/>
                </a:solidFill>
                <a:latin typeface="Calibri"/>
              </a:defRPr>
            </a:pPr>
            <a:r>
              <a:t>Organization: EdTech startup focused on AI-powered solutions for government education — school infrastructure (Vidya Nirmaan), early childhood development (ECD monitoring), and personalized learning companions for children.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Koreidea Innovations  |  Vidya Nirmaan  |  IndiaAI Innovation Challenge  |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D47A1"/>
                </a:solidFill>
                <a:latin typeface="Calibri"/>
              </a:defRPr>
            </a:pPr>
            <a:r>
              <a:t>Vidya Nirmaan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12121"/>
                </a:solidFill>
                <a:latin typeface="Calibri"/>
              </a:defRPr>
            </a:pPr>
            <a:r>
              <a:t>Transforming school infrastructure planning from manual paper-based workflows</a:t>
            </a:r>
            <a:br/>
            <a:r>
              <a:t>to an AI-powered, transparent, accountable, and equitable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2743200" cy="45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47A1"/>
                </a:solidFill>
                <a:latin typeface="Calibri"/>
              </a:defRPr>
            </a:pPr>
            <a:r>
              <a:t>3 AI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Calibri"/>
              </a:defRPr>
            </a:pPr>
            <a:r>
              <a:t>Priority Scoring</a:t>
            </a:r>
            <a:br/>
            <a:r>
              <a:t>Validation</a:t>
            </a:r>
            <a:br/>
            <a:r>
              <a:t>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47A1"/>
                </a:solidFill>
                <a:latin typeface="Calibri"/>
              </a:defRPr>
            </a:pPr>
            <a:r>
              <a:t>7 Validation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566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Calibri"/>
              </a:defRPr>
            </a:pPr>
            <a:r>
              <a:t>Rule-Based +</a:t>
            </a:r>
            <a:br/>
            <a:r>
              <a:t>Isolation Forest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47A1"/>
                </a:solidFill>
                <a:latin typeface="Calibri"/>
              </a:defRPr>
            </a:pPr>
            <a:r>
              <a:t>5 User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566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Calibri"/>
              </a:defRPr>
            </a:pPr>
            <a:r>
              <a:t>State to School</a:t>
            </a:r>
            <a:br/>
            <a:r>
              <a:t>Role-Based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39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47A1"/>
                </a:solidFill>
                <a:latin typeface="Calibri"/>
              </a:defRPr>
            </a:pPr>
            <a:r>
              <a:t>Offline-First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39" y="35661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57575"/>
                </a:solidFill>
                <a:latin typeface="Calibri"/>
              </a:defRPr>
            </a:pPr>
            <a:r>
              <a:t>Works Without</a:t>
            </a:r>
            <a:br/>
            <a:r>
              <a:t>Internet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  <a:latin typeface="Calibri"/>
              </a:defRPr>
            </a:pPr>
            <a:r>
              <a:t>Ready for Pilot Deployment Across Andhra Pradesh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029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57575"/>
                </a:solidFill>
                <a:latin typeface="Calibri"/>
              </a:defRPr>
            </a:pPr>
            <a:r>
              <a:t>iOS + Android  |  English + Telugu  |  Built for 45,000+ Schools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Koreidea Innovations  |  Vidya Nirmaan  |  IndiaAI Innovation Challenge  |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